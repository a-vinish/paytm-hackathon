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Helvetica World Bold" charset="1" panose="020B0800040000020004"/>
      <p:regular r:id="rId11"/>
    </p:embeddedFont>
    <p:embeddedFont>
      <p:font typeface="Helvetica World" charset="1" panose="020B0500040000020004"/>
      <p:regular r:id="rId12"/>
    </p:embeddedFont>
    <p:embeddedFont>
      <p:font typeface="Arial" charset="1" panose="020B0604020202020204"/>
      <p:regular r:id="rId13"/>
    </p:embeddedFont>
    <p:embeddedFont>
      <p:font typeface="Arial Bold" charset="1" panose="020B07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986831" y="1625920"/>
            <a:ext cx="19194329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2182142" y="4951461"/>
            <a:ext cx="14204492" cy="72481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1998502" y="1662202"/>
            <a:ext cx="0" cy="912336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0" y="4946699"/>
            <a:ext cx="8324793" cy="5900197"/>
          </a:xfrm>
          <a:custGeom>
            <a:avLst/>
            <a:gdLst/>
            <a:ahLst/>
            <a:cxnLst/>
            <a:rect r="r" b="b" t="t" l="l"/>
            <a:pathLst>
              <a:path h="5900197" w="8324793">
                <a:moveTo>
                  <a:pt x="0" y="0"/>
                </a:moveTo>
                <a:lnTo>
                  <a:pt x="8324793" y="0"/>
                </a:lnTo>
                <a:lnTo>
                  <a:pt x="8324793" y="5900197"/>
                </a:lnTo>
                <a:lnTo>
                  <a:pt x="0" y="5900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12" y="4999765"/>
            <a:ext cx="11950853" cy="5287235"/>
          </a:xfrm>
          <a:custGeom>
            <a:avLst/>
            <a:gdLst/>
            <a:ahLst/>
            <a:cxnLst/>
            <a:rect r="r" b="b" t="t" l="l"/>
            <a:pathLst>
              <a:path h="5287235" w="11950853">
                <a:moveTo>
                  <a:pt x="0" y="0"/>
                </a:moveTo>
                <a:lnTo>
                  <a:pt x="11950853" y="0"/>
                </a:lnTo>
                <a:lnTo>
                  <a:pt x="11950853" y="5287235"/>
                </a:lnTo>
                <a:lnTo>
                  <a:pt x="0" y="5287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40" t="0" r="-2834" b="-768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27137" y="1705980"/>
            <a:ext cx="6260863" cy="4323108"/>
          </a:xfrm>
          <a:custGeom>
            <a:avLst/>
            <a:gdLst/>
            <a:ahLst/>
            <a:cxnLst/>
            <a:rect r="r" b="b" t="t" l="l"/>
            <a:pathLst>
              <a:path h="4323108" w="6260863">
                <a:moveTo>
                  <a:pt x="0" y="0"/>
                </a:moveTo>
                <a:lnTo>
                  <a:pt x="6260863" y="0"/>
                </a:lnTo>
                <a:lnTo>
                  <a:pt x="6260863" y="4323108"/>
                </a:lnTo>
                <a:lnTo>
                  <a:pt x="0" y="432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1" t="0" r="-25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27137" y="6048138"/>
            <a:ext cx="6260863" cy="2569150"/>
          </a:xfrm>
          <a:custGeom>
            <a:avLst/>
            <a:gdLst/>
            <a:ahLst/>
            <a:cxnLst/>
            <a:rect r="r" b="b" t="t" l="l"/>
            <a:pathLst>
              <a:path h="2569150" w="6260863">
                <a:moveTo>
                  <a:pt x="0" y="0"/>
                </a:moveTo>
                <a:lnTo>
                  <a:pt x="6260863" y="0"/>
                </a:lnTo>
                <a:lnTo>
                  <a:pt x="6260863" y="2569150"/>
                </a:lnTo>
                <a:lnTo>
                  <a:pt x="0" y="2569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7140" r="-6315" b="-4070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890802"/>
            <a:ext cx="3294069" cy="60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619"/>
              </a:lnSpc>
            </a:pPr>
            <a:r>
              <a:rPr lang="en-US" b="true" sz="3299" spc="-237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Track -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166" y="-288923"/>
            <a:ext cx="9989941" cy="185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b="true" sz="9999" spc="-719">
                <a:solidFill>
                  <a:srgbClr val="BF9E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Paytm Copilot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06649" y="9201150"/>
            <a:ext cx="5362476" cy="48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43"/>
              </a:lnSpc>
            </a:pPr>
            <a:r>
              <a:rPr lang="en-US" sz="2888" spc="14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Avinish Kumar Mahato (DTU)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98502" y="9651662"/>
            <a:ext cx="5159120" cy="48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43"/>
              </a:lnSpc>
            </a:pPr>
            <a:r>
              <a:rPr lang="en-US" sz="2888" spc="14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Deepanshu Meena (DTU)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91820" y="8769688"/>
            <a:ext cx="4342827" cy="48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43"/>
              </a:lnSpc>
            </a:pPr>
            <a:r>
              <a:rPr lang="en-US" sz="2888" spc="1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Team - Paythis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36211" y="2510807"/>
            <a:ext cx="7880763" cy="99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48"/>
              </a:lnSpc>
              <a:spcBef>
                <a:spcPct val="0"/>
              </a:spcBef>
            </a:pPr>
            <a:r>
              <a:rPr lang="en-US" sz="2820" spc="14" strike="noStrike" u="non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35% of payment flows are abandoned mid-way — because Paytm watches but never helps.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80323" y="3454433"/>
            <a:ext cx="3294069" cy="60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619"/>
              </a:lnSpc>
              <a:spcBef>
                <a:spcPct val="0"/>
              </a:spcBef>
            </a:pPr>
            <a:r>
              <a:rPr lang="en-US" b="true" sz="3299" spc="-2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Solution -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36211" y="3528353"/>
            <a:ext cx="8213327" cy="99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48"/>
              </a:lnSpc>
              <a:spcBef>
                <a:spcPct val="0"/>
              </a:spcBef>
            </a:pPr>
            <a:r>
              <a:rPr lang="en-US" sz="2820" spc="14" strike="noStrike" u="non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We gave Paytm a brain — one that watches, learns, and acts so users never get stuck again.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44743" y="132705"/>
            <a:ext cx="4029444" cy="136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7"/>
              </a:lnSpc>
            </a:pPr>
            <a:r>
              <a:rPr lang="en-US" b="true" sz="3669" spc="-58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FIN-O-HACK</a:t>
            </a:r>
          </a:p>
          <a:p>
            <a:pPr algn="ctr" marL="0" indent="0" lvl="0">
              <a:lnSpc>
                <a:spcPts val="5137"/>
              </a:lnSpc>
            </a:pPr>
            <a:r>
              <a:rPr lang="en-US" b="true" sz="3669" spc="-58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fintech hackathon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36211" y="1940908"/>
            <a:ext cx="10148245" cy="49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48"/>
              </a:lnSpc>
            </a:pPr>
            <a:r>
              <a:rPr lang="en-US" sz="2820" spc="14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AI for Paytm Users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2433727"/>
            <a:ext cx="3294069" cy="60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619"/>
              </a:lnSpc>
              <a:spcBef>
                <a:spcPct val="0"/>
              </a:spcBef>
            </a:pPr>
            <a:r>
              <a:rPr lang="en-US" b="true" sz="3299" spc="-2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-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25833" y="2469304"/>
            <a:ext cx="3862167" cy="7882542"/>
          </a:xfrm>
          <a:custGeom>
            <a:avLst/>
            <a:gdLst/>
            <a:ahLst/>
            <a:cxnLst/>
            <a:rect r="r" b="b" t="t" l="l"/>
            <a:pathLst>
              <a:path h="7882542" w="3862167">
                <a:moveTo>
                  <a:pt x="0" y="0"/>
                </a:moveTo>
                <a:lnTo>
                  <a:pt x="3862167" y="0"/>
                </a:lnTo>
                <a:lnTo>
                  <a:pt x="3862167" y="7882542"/>
                </a:lnTo>
                <a:lnTo>
                  <a:pt x="0" y="7882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83" r="-64016" b="-2183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250209"/>
            <a:ext cx="183956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4262661" y="2469304"/>
            <a:ext cx="0" cy="18395628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430478" y="6183248"/>
            <a:ext cx="9427045" cy="2665058"/>
          </a:xfrm>
          <a:custGeom>
            <a:avLst/>
            <a:gdLst/>
            <a:ahLst/>
            <a:cxnLst/>
            <a:rect r="r" b="b" t="t" l="l"/>
            <a:pathLst>
              <a:path h="2665058" w="9427045">
                <a:moveTo>
                  <a:pt x="0" y="0"/>
                </a:moveTo>
                <a:lnTo>
                  <a:pt x="9427044" y="0"/>
                </a:lnTo>
                <a:lnTo>
                  <a:pt x="9427044" y="2665058"/>
                </a:lnTo>
                <a:lnTo>
                  <a:pt x="0" y="26650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1" r="-1258" b="-31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1037" y="2622010"/>
            <a:ext cx="13586486" cy="2890348"/>
          </a:xfrm>
          <a:custGeom>
            <a:avLst/>
            <a:gdLst/>
            <a:ahLst/>
            <a:cxnLst/>
            <a:rect r="r" b="b" t="t" l="l"/>
            <a:pathLst>
              <a:path h="2890348" w="13586486">
                <a:moveTo>
                  <a:pt x="0" y="0"/>
                </a:moveTo>
                <a:lnTo>
                  <a:pt x="13586485" y="0"/>
                </a:lnTo>
                <a:lnTo>
                  <a:pt x="13586485" y="2890348"/>
                </a:lnTo>
                <a:lnTo>
                  <a:pt x="0" y="2890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351" r="0" b="-43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3234941" y="-123825"/>
            <a:ext cx="15181518" cy="128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799"/>
              </a:lnSpc>
            </a:pPr>
            <a:r>
              <a:rPr lang="en-US" b="true" sz="6999" spc="-503">
                <a:solidFill>
                  <a:srgbClr val="BF9E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Solution: What is Paytm Copilot: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037" y="1255184"/>
            <a:ext cx="17322140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80"/>
              </a:lnSpc>
            </a:pPr>
            <a:r>
              <a:rPr lang="en-US" sz="3200" spc="16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An invisible AI layer inside Paytm that watches what you're doing, understands your intent, and proactively offers to complete the task — in one tap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30618" y="9829165"/>
            <a:ext cx="969824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</a:pPr>
            <a:r>
              <a:rPr lang="en-US" b="true" sz="2600" spc="13">
                <a:solidFill>
                  <a:srgbClr val="927875"/>
                </a:solidFill>
                <a:latin typeface="Arial Bold"/>
                <a:ea typeface="Arial Bold"/>
                <a:cs typeface="Arial Bold"/>
                <a:sym typeface="Arial Bold"/>
              </a:rPr>
              <a:t>Watches, Understands, Acts — before you even ask.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1037" y="6116573"/>
            <a:ext cx="3587941" cy="2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29"/>
              </a:lnSpc>
            </a:pPr>
            <a:r>
              <a:rPr lang="en-US" sz="2592" spc="12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● GPS doesn't wait for you to ask "which turn?" It watches and speaks before you need it. Copilot is GPS — for every screen in Paytm.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250209"/>
            <a:ext cx="183956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00446" y="2056881"/>
            <a:ext cx="11963475" cy="4874355"/>
          </a:xfrm>
          <a:custGeom>
            <a:avLst/>
            <a:gdLst/>
            <a:ahLst/>
            <a:cxnLst/>
            <a:rect r="r" b="b" t="t" l="l"/>
            <a:pathLst>
              <a:path h="4874355" w="11963475">
                <a:moveTo>
                  <a:pt x="0" y="0"/>
                </a:moveTo>
                <a:lnTo>
                  <a:pt x="11963476" y="0"/>
                </a:lnTo>
                <a:lnTo>
                  <a:pt x="11963476" y="4874354"/>
                </a:lnTo>
                <a:lnTo>
                  <a:pt x="0" y="487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58" r="0" b="-9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03473" y="1531672"/>
            <a:ext cx="5684527" cy="4094265"/>
          </a:xfrm>
          <a:custGeom>
            <a:avLst/>
            <a:gdLst/>
            <a:ahLst/>
            <a:cxnLst/>
            <a:rect r="r" b="b" t="t" l="l"/>
            <a:pathLst>
              <a:path h="4094265" w="5684527">
                <a:moveTo>
                  <a:pt x="0" y="0"/>
                </a:moveTo>
                <a:lnTo>
                  <a:pt x="5684527" y="0"/>
                </a:lnTo>
                <a:lnTo>
                  <a:pt x="5684527" y="4094266"/>
                </a:lnTo>
                <a:lnTo>
                  <a:pt x="0" y="409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22872" y="5902163"/>
            <a:ext cx="5665128" cy="4299112"/>
          </a:xfrm>
          <a:custGeom>
            <a:avLst/>
            <a:gdLst/>
            <a:ahLst/>
            <a:cxnLst/>
            <a:rect r="r" b="b" t="t" l="l"/>
            <a:pathLst>
              <a:path h="4299112" w="5665128">
                <a:moveTo>
                  <a:pt x="0" y="0"/>
                </a:moveTo>
                <a:lnTo>
                  <a:pt x="5665128" y="0"/>
                </a:lnTo>
                <a:lnTo>
                  <a:pt x="5665128" y="4299112"/>
                </a:lnTo>
                <a:lnTo>
                  <a:pt x="0" y="42991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75" r="-1899" b="-38016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2433697" y="1250209"/>
            <a:ext cx="0" cy="18395628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7656" y="7097923"/>
            <a:ext cx="4732195" cy="3189077"/>
          </a:xfrm>
          <a:custGeom>
            <a:avLst/>
            <a:gdLst/>
            <a:ahLst/>
            <a:cxnLst/>
            <a:rect r="r" b="b" t="t" l="l"/>
            <a:pathLst>
              <a:path h="3189077" w="4732195">
                <a:moveTo>
                  <a:pt x="0" y="0"/>
                </a:moveTo>
                <a:lnTo>
                  <a:pt x="4732195" y="0"/>
                </a:lnTo>
                <a:lnTo>
                  <a:pt x="4732195" y="3189077"/>
                </a:lnTo>
                <a:lnTo>
                  <a:pt x="0" y="3189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27" t="0" r="-4727" b="-3771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37198" y="7021723"/>
            <a:ext cx="4910761" cy="3179552"/>
          </a:xfrm>
          <a:custGeom>
            <a:avLst/>
            <a:gdLst/>
            <a:ahLst/>
            <a:cxnLst/>
            <a:rect r="r" b="b" t="t" l="l"/>
            <a:pathLst>
              <a:path h="3179552" w="4910761">
                <a:moveTo>
                  <a:pt x="0" y="0"/>
                </a:moveTo>
                <a:lnTo>
                  <a:pt x="4910762" y="0"/>
                </a:lnTo>
                <a:lnTo>
                  <a:pt x="4910762" y="3179552"/>
                </a:lnTo>
                <a:lnTo>
                  <a:pt x="0" y="31795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2" t="-1712" r="0" b="-487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4470145" y="-123825"/>
            <a:ext cx="15181518" cy="128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799"/>
              </a:lnSpc>
            </a:pPr>
            <a:r>
              <a:rPr lang="en-US" b="true" sz="6999" spc="-503">
                <a:solidFill>
                  <a:srgbClr val="BF9E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Features: What Copilot Does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0446" y="1490461"/>
            <a:ext cx="720523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80"/>
              </a:lnSpc>
            </a:pPr>
            <a:r>
              <a:rPr lang="en-US" sz="3200" spc="16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The Features — Built for 300M Users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373" y="5316475"/>
            <a:ext cx="9259829" cy="4970525"/>
          </a:xfrm>
          <a:custGeom>
            <a:avLst/>
            <a:gdLst/>
            <a:ahLst/>
            <a:cxnLst/>
            <a:rect r="r" b="b" t="t" l="l"/>
            <a:pathLst>
              <a:path h="4970525" w="9259829">
                <a:moveTo>
                  <a:pt x="0" y="0"/>
                </a:moveTo>
                <a:lnTo>
                  <a:pt x="9259830" y="0"/>
                </a:lnTo>
                <a:lnTo>
                  <a:pt x="9259830" y="4970525"/>
                </a:lnTo>
                <a:lnTo>
                  <a:pt x="0" y="4970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" t="-2205" r="-1457" b="-17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1659" y="1388322"/>
            <a:ext cx="11301259" cy="3842428"/>
          </a:xfrm>
          <a:custGeom>
            <a:avLst/>
            <a:gdLst/>
            <a:ahLst/>
            <a:cxnLst/>
            <a:rect r="r" b="b" t="t" l="l"/>
            <a:pathLst>
              <a:path h="3842428" w="11301259">
                <a:moveTo>
                  <a:pt x="0" y="0"/>
                </a:moveTo>
                <a:lnTo>
                  <a:pt x="11301259" y="0"/>
                </a:lnTo>
                <a:lnTo>
                  <a:pt x="11301259" y="3842428"/>
                </a:lnTo>
                <a:lnTo>
                  <a:pt x="0" y="3842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0" y="1250209"/>
            <a:ext cx="183956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851007" y="1388322"/>
            <a:ext cx="6436993" cy="8577464"/>
          </a:xfrm>
          <a:custGeom>
            <a:avLst/>
            <a:gdLst/>
            <a:ahLst/>
            <a:cxnLst/>
            <a:rect r="r" b="b" t="t" l="l"/>
            <a:pathLst>
              <a:path h="8577464" w="6436993">
                <a:moveTo>
                  <a:pt x="0" y="0"/>
                </a:moveTo>
                <a:lnTo>
                  <a:pt x="6436993" y="0"/>
                </a:lnTo>
                <a:lnTo>
                  <a:pt x="6436993" y="8577464"/>
                </a:lnTo>
                <a:lnTo>
                  <a:pt x="0" y="8577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46" r="-1672" b="-44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5165121" y="-123825"/>
            <a:ext cx="15181518" cy="128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799"/>
              </a:lnSpc>
            </a:pPr>
            <a:r>
              <a:rPr lang="en-US" b="true" sz="6999" spc="-503">
                <a:solidFill>
                  <a:srgbClr val="BF9E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Architecture: How It Works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1691962" y="1222536"/>
            <a:ext cx="0" cy="18395628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79968" y="2002367"/>
            <a:ext cx="6332472" cy="5442397"/>
          </a:xfrm>
          <a:custGeom>
            <a:avLst/>
            <a:gdLst/>
            <a:ahLst/>
            <a:cxnLst/>
            <a:rect r="r" b="b" t="t" l="l"/>
            <a:pathLst>
              <a:path h="5442397" w="6332472">
                <a:moveTo>
                  <a:pt x="0" y="0"/>
                </a:moveTo>
                <a:lnTo>
                  <a:pt x="6332472" y="0"/>
                </a:lnTo>
                <a:lnTo>
                  <a:pt x="6332472" y="5442397"/>
                </a:lnTo>
                <a:lnTo>
                  <a:pt x="0" y="5442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66" t="-872" r="-966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250209"/>
            <a:ext cx="183956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3060077" y="1250209"/>
            <a:ext cx="0" cy="18395628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312490" y="1250209"/>
            <a:ext cx="4985035" cy="5706527"/>
          </a:xfrm>
          <a:custGeom>
            <a:avLst/>
            <a:gdLst/>
            <a:ahLst/>
            <a:cxnLst/>
            <a:rect r="r" b="b" t="t" l="l"/>
            <a:pathLst>
              <a:path h="5706527" w="4985035">
                <a:moveTo>
                  <a:pt x="0" y="0"/>
                </a:moveTo>
                <a:lnTo>
                  <a:pt x="4985035" y="0"/>
                </a:lnTo>
                <a:lnTo>
                  <a:pt x="4985035" y="5706527"/>
                </a:lnTo>
                <a:lnTo>
                  <a:pt x="0" y="5706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7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1489" y="2002367"/>
            <a:ext cx="6058313" cy="5958009"/>
          </a:xfrm>
          <a:custGeom>
            <a:avLst/>
            <a:gdLst/>
            <a:ahLst/>
            <a:cxnLst/>
            <a:rect r="r" b="b" t="t" l="l"/>
            <a:pathLst>
              <a:path h="5958009" w="6058313">
                <a:moveTo>
                  <a:pt x="0" y="0"/>
                </a:moveTo>
                <a:lnTo>
                  <a:pt x="6058312" y="0"/>
                </a:lnTo>
                <a:lnTo>
                  <a:pt x="6058312" y="5958009"/>
                </a:lnTo>
                <a:lnTo>
                  <a:pt x="0" y="59580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07715" y="7080520"/>
            <a:ext cx="5080285" cy="3214808"/>
          </a:xfrm>
          <a:custGeom>
            <a:avLst/>
            <a:gdLst/>
            <a:ahLst/>
            <a:cxnLst/>
            <a:rect r="r" b="b" t="t" l="l"/>
            <a:pathLst>
              <a:path h="3214808" w="5080285">
                <a:moveTo>
                  <a:pt x="0" y="0"/>
                </a:moveTo>
                <a:lnTo>
                  <a:pt x="5080285" y="0"/>
                </a:lnTo>
                <a:lnTo>
                  <a:pt x="5080285" y="3214808"/>
                </a:lnTo>
                <a:lnTo>
                  <a:pt x="0" y="32148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66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83358" y="7530489"/>
            <a:ext cx="5729082" cy="2707287"/>
          </a:xfrm>
          <a:custGeom>
            <a:avLst/>
            <a:gdLst/>
            <a:ahLst/>
            <a:cxnLst/>
            <a:rect r="r" b="b" t="t" l="l"/>
            <a:pathLst>
              <a:path h="2707287" w="5729082">
                <a:moveTo>
                  <a:pt x="0" y="0"/>
                </a:moveTo>
                <a:lnTo>
                  <a:pt x="5729082" y="0"/>
                </a:lnTo>
                <a:lnTo>
                  <a:pt x="5729082" y="2707287"/>
                </a:lnTo>
                <a:lnTo>
                  <a:pt x="0" y="27072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8" t="-38601" r="0" b="-374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5280950" y="-123613"/>
            <a:ext cx="15181518" cy="128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799"/>
              </a:lnSpc>
            </a:pPr>
            <a:r>
              <a:rPr lang="en-US" b="true" sz="6999" spc="-503">
                <a:solidFill>
                  <a:srgbClr val="BF9E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 + Why Paytm Wins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1489" y="1254972"/>
            <a:ext cx="720523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80"/>
              </a:lnSpc>
            </a:pPr>
            <a:r>
              <a:rPr lang="en-US" sz="3200" spc="16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So what? Why does this matter?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4381" y="8665238"/>
            <a:ext cx="6165588" cy="108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8"/>
              </a:lnSpc>
            </a:pPr>
            <a:r>
              <a:rPr lang="en-US" sz="2385" spc="11">
                <a:solidFill>
                  <a:srgbClr val="AD8F73"/>
                </a:solidFill>
                <a:latin typeface="Arial"/>
                <a:ea typeface="Arial"/>
                <a:cs typeface="Arial"/>
                <a:sym typeface="Arial"/>
              </a:rPr>
              <a:t>The best UX knows what you need before you do.""Paytm Copilot makes that real — for 300M users, starting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DAHFdDVO0OE</dc:identifier>
  <dcterms:modified xsi:type="dcterms:W3CDTF">2011-08-01T06:04:30Z</dcterms:modified>
  <cp:revision>1</cp:revision>
  <dc:title>Cream and Black Clean Modern Brand Guidelines Presentation</dc:title>
</cp:coreProperties>
</file>